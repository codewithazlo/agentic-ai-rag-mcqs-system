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585" r:id="rId26"/>
    <p:sldId id="586" r:id="rId27"/>
    <p:sldId id="587" r:id="rId28"/>
    <p:sldId id="588" r:id="rId29"/>
    <p:sldId id="589" r:id="rId30"/>
    <p:sldId id="534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439AC-FF95-44AA-B0B6-96364994F43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16998-52CA-4341-8187-0858691CF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77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F35FFDF-A32B-4742-8F70-071CD1337981}" type="slidenum">
              <a:rPr lang="en-US" altLang="en-US" smtClean="0"/>
              <a:pPr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86D80BD-9D7B-4B49-8BCC-C8D89DEC61CC}" type="slidenum">
              <a:rPr lang="en-US" altLang="en-US" smtClean="0"/>
              <a:pPr eaLnBrk="1" hangingPunct="1"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0268A65-9BCC-4427-88B7-EA274AFA89FD}" type="slidenum">
              <a:rPr lang="en-US" altLang="en-US" smtClean="0"/>
              <a:pPr eaLnBrk="1" hangingPunct="1"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1CCDE80-46C3-496D-895F-E1F6749EF91D}" type="slidenum">
              <a:rPr lang="en-US" altLang="en-US" smtClean="0"/>
              <a:pPr eaLnBrk="1" hangingPunct="1"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FBE28E3-FB59-4892-845C-80416C819838}" type="slidenum">
              <a:rPr lang="en-US" altLang="en-US" smtClean="0"/>
              <a:pPr eaLnBrk="1" hangingPunct="1"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6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92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74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2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8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2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5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2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8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57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11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24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30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98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58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24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8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84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Structures &amp; Algorithms Using Python</a:t>
            </a:r>
          </a:p>
          <a:p>
            <a:r>
              <a:t>Week 1: Introduction, Terminology, Data Organization, Structure Operations</a:t>
            </a:r>
          </a:p>
          <a:p>
            <a:r>
              <a:t>Goal: Build a foundation for solving problems efficiently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Study Data Structures?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Without data structures → programs are slow &amp; memory-hungry</a:t>
            </a:r>
          </a:p>
          <a:p>
            <a:r>
              <a:t>With data structures → efficient, scalable, organized solutions</a:t>
            </a:r>
          </a:p>
          <a:p>
            <a:r>
              <a:t>Applications: Databases (tables), Operating Systems (process scheduling), AI (graphs, trees)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Step-by-step instructions to solve a problem</a:t>
            </a:r>
          </a:p>
          <a:p>
            <a:r>
              <a:t>Properties: Must terminate (finite), be correct, and efficient</a:t>
            </a:r>
          </a:p>
          <a:p>
            <a:r>
              <a:t>Real-life analogy: A cooking recipe</a:t>
            </a:r>
          </a:p>
          <a:p>
            <a:r>
              <a:t>Python Example:</a:t>
            </a:r>
          </a:p>
          <a:p>
            <a:r>
              <a:t> a, b, c = 10, 25, 18</a:t>
            </a:r>
          </a:p>
          <a:p>
            <a:r>
              <a:t> print('Max:', max(a,b,c))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vs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= Raw facts → '85'</a:t>
            </a:r>
          </a:p>
          <a:p>
            <a:r>
              <a:t>Information = Processed data → 'Student scored 85 in Math'</a:t>
            </a:r>
          </a:p>
          <a:p>
            <a:r>
              <a:t>Analogy: Raw rice (data) → Cooked dish (information)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Item, Entity,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Entity = Student</a:t>
            </a:r>
          </a:p>
          <a:p>
            <a:r>
              <a:t>Attributes = Name, Roll No, Age</a:t>
            </a:r>
          </a:p>
          <a:p>
            <a:r>
              <a:t>Data Item = 'Ali' (specific value)</a:t>
            </a:r>
          </a:p>
          <a:p>
            <a:r>
              <a:t>Helps break problems into smaller, manageable parts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Field, Record, File,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 = Single attribute (Age = 20)</a:t>
            </a:r>
          </a:p>
          <a:p>
            <a:r>
              <a:t>Record = Collection of fields (1 student’s full info)</a:t>
            </a:r>
          </a:p>
          <a:p>
            <a:r>
              <a:t>File = Collection of records (class of students)</a:t>
            </a:r>
          </a:p>
          <a:p>
            <a:r>
              <a:t>Database = Collection of files (whole school records)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Primitive: int, float, bool → Basic building blocks</a:t>
            </a:r>
          </a:p>
          <a:p>
            <a:r>
              <a:t>Complex: list, dict, tuple, str → Can hold multiple values</a:t>
            </a:r>
          </a:p>
          <a:p>
            <a:r>
              <a:t>User-defined: Classes → Create custom data structures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Data Types (ADT)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Defined by values &amp; operations, NOT by implementation</a:t>
            </a:r>
          </a:p>
          <a:p>
            <a:r>
              <a:t>Analogy: TV remote → You know which button does what, but not the circuit inside</a:t>
            </a:r>
          </a:p>
          <a:p>
            <a:r>
              <a:t>Example: String ADT → 'upper()', 'find()', 'replace()'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Organization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Character → Field → Record → File → Database</a:t>
            </a:r>
          </a:p>
          <a:p>
            <a:r>
              <a:t>Example: A school database → Character = 'A', Field = Name, Record = One student, File = Class, Database = School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 in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Procedural Abstraction → Using functions (e.g., sqrt()) without knowing internal code</a:t>
            </a:r>
          </a:p>
          <a:p>
            <a:r>
              <a:t>Data Abstraction → Using ADTs (lists, strings) without knowing storage details</a:t>
            </a:r>
          </a:p>
          <a:p>
            <a:r>
              <a:t>Focus on WHAT, not HOW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vs Dynamic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Static: Fixed size → Array (like seats in a bus, once full no more)</a:t>
            </a:r>
          </a:p>
          <a:p>
            <a:r>
              <a:t>Dynamic: Resizable → Python List, Linked List (like adding chairs in a hall)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vs Non-Linear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Linear: Sequential → Array, Stack, Queue (line of people)</a:t>
            </a:r>
          </a:p>
          <a:p>
            <a:r>
              <a:t>Non-linear: Hierarchical/Network → Trees, Graphs (family tree, Google Maps)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Life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Queue → People waiting at ticket counter</a:t>
            </a:r>
          </a:p>
          <a:p>
            <a:r>
              <a:t>Stack → Undo/Redo in text editors</a:t>
            </a:r>
          </a:p>
          <a:p>
            <a:r>
              <a:t>Tree → Family tree or file directory structure</a:t>
            </a:r>
          </a:p>
          <a:p>
            <a:r>
              <a:t>Graph → Social networks, Maps routes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Operations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operations on data structures:</a:t>
            </a:r>
          </a:p>
          <a:p>
            <a:r>
              <a:t>1. Traversing → Visit each element</a:t>
            </a:r>
          </a:p>
          <a:p>
            <a:r>
              <a:t>2. Insertion → Add new element</a:t>
            </a:r>
          </a:p>
          <a:p>
            <a:r>
              <a:t>3. Deletion → Remove element</a:t>
            </a:r>
          </a:p>
          <a:p>
            <a:r>
              <a:t>4. Searching → Find an element</a:t>
            </a:r>
          </a:p>
          <a:p>
            <a:r>
              <a:t>5. Sorting → Arrange elements</a:t>
            </a:r>
          </a:p>
          <a:p>
            <a:r>
              <a:t>6. Merging → Combine structures</a:t>
            </a:r>
          </a:p>
          <a:p>
            <a:r>
              <a:t>7. Updating → Modify element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Traversing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Traversing = Visiting each element in order</a:t>
            </a:r>
          </a:p>
          <a:p>
            <a:r>
              <a:t>Python Example:</a:t>
            </a:r>
          </a:p>
          <a:p>
            <a:r>
              <a:t> for x in [10,20,30]:</a:t>
            </a:r>
          </a:p>
          <a:p>
            <a:r>
              <a:t>     print(x)</a:t>
            </a:r>
          </a:p>
          <a:p>
            <a:r>
              <a:t>Real-life analogy: Checking each student’s name in attendance 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25 into [10,20,30] → [10,20,25,30]</a:t>
            </a:r>
          </a:p>
          <a:p>
            <a:r>
              <a:t>Real-life analogy: Adding a new student to the class roll number list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20 from [10,20,30] → [10,30]</a:t>
            </a:r>
          </a:p>
          <a:p>
            <a:r>
              <a:t>Real-life analogy: A student leaves the class → record removed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if 25 exists in [10,20,25,30]</a:t>
            </a:r>
          </a:p>
          <a:p>
            <a:r>
              <a:t>Python Example:</a:t>
            </a:r>
          </a:p>
          <a:p>
            <a:r>
              <a:t> if 25 in [10,20,25,30]:</a:t>
            </a:r>
          </a:p>
          <a:p>
            <a:r>
              <a:t>     print('Found')</a:t>
            </a:r>
          </a:p>
          <a:p>
            <a:r>
              <a:t>Real-life analogy: Searching for a book in library catalog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Sorting = Arranging data in order</a:t>
            </a:r>
          </a:p>
          <a:p>
            <a:r>
              <a:t>Example: Sorting roll numbers [30,10,20] → [10,20,30]</a:t>
            </a:r>
          </a:p>
          <a:p>
            <a:r>
              <a:t>Python Example: sorted([30,10,20]) → [10,20,30]</a:t>
            </a:r>
          </a:p>
          <a:p>
            <a:r>
              <a:t>Real-life analogy: Arranging students in ascending order of marks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ADT as a Black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interact with ADT through an interface only</a:t>
            </a:r>
          </a:p>
          <a:p>
            <a:r>
              <a:t>Categories of operations:</a:t>
            </a:r>
          </a:p>
          <a:p>
            <a:r>
              <a:t>Constructors → Create ADT</a:t>
            </a:r>
          </a:p>
          <a:p>
            <a:r>
              <a:t>Accessors → Read data</a:t>
            </a:r>
          </a:p>
          <a:p>
            <a:r>
              <a:t>Mutators → Modify data</a:t>
            </a:r>
          </a:p>
          <a:p>
            <a:r>
              <a:t>Iterators → Process elements one by one</a:t>
            </a:r>
          </a:p>
          <a:p>
            <a:r>
              <a:t>Analogy: ATM → You press buttons, don’t know internal circuits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Collection / Container = A group of elements</a:t>
            </a:r>
          </a:p>
          <a:p>
            <a:r>
              <a:t>Empty container = Has no elements</a:t>
            </a:r>
          </a:p>
          <a:p>
            <a:r>
              <a:t>Examples in Python:</a:t>
            </a:r>
          </a:p>
          <a:p>
            <a:r>
              <a:t>List → [ ]</a:t>
            </a:r>
          </a:p>
          <a:p>
            <a:r>
              <a:t>Set → set()</a:t>
            </a:r>
          </a:p>
          <a:p>
            <a:r>
              <a:t>Dict → { 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 → Fixed collection of items</a:t>
            </a:r>
          </a:p>
          <a:p>
            <a:r>
              <a:t>Linked List → Connected nodes</a:t>
            </a:r>
          </a:p>
          <a:p>
            <a:r>
              <a:t>Stack → LIFO (Last In First Out)</a:t>
            </a:r>
          </a:p>
          <a:p>
            <a:r>
              <a:t>Queue → FIFO (First In First Out)</a:t>
            </a:r>
          </a:p>
          <a:p>
            <a:r>
              <a:t>Tree → Hierarchical structure</a:t>
            </a:r>
          </a:p>
          <a:p>
            <a:r>
              <a:t>Graph → Network of nodes and edges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Efficiency and suitability matter</a:t>
            </a:r>
          </a:p>
          <a:p>
            <a:r>
              <a:t>Example:</a:t>
            </a:r>
          </a:p>
          <a:p>
            <a:r>
              <a:t>Use Queue for scheduling processes</a:t>
            </a:r>
          </a:p>
          <a:p>
            <a:r>
              <a:t>Use Stack for undo operation</a:t>
            </a:r>
          </a:p>
          <a:p>
            <a:r>
              <a:t>Use Tree for directory structure</a:t>
            </a:r>
          </a:p>
          <a:p>
            <a:r>
              <a:t>Use Graph for shortest path finding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DS &amp;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Databases → Indexing, searching</a:t>
            </a:r>
          </a:p>
          <a:p>
            <a:r>
              <a:t>Compilers → Syntax tree representation</a:t>
            </a:r>
          </a:p>
          <a:p>
            <a:r>
              <a:t>Operating Systems → Process scheduling</a:t>
            </a:r>
          </a:p>
          <a:p>
            <a:r>
              <a:t>Networking → Routing algorithms</a:t>
            </a:r>
          </a:p>
          <a:p>
            <a:r>
              <a:t>AI → Search trees, neural networks</a:t>
            </a:r>
          </a:p>
          <a:p>
            <a:r>
              <a:t>Games → Pathfinding, decision trees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/>
              <a:t>Lists (Array /Linked List)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en-US" dirty="0"/>
              <a:t>Items have a position in this Collection</a:t>
            </a:r>
          </a:p>
          <a:p>
            <a:pPr lvl="1" eaLnBrk="1" hangingPunct="1"/>
            <a:r>
              <a:rPr lang="en-US" altLang="en-US" dirty="0"/>
              <a:t>Random access or not?</a:t>
            </a:r>
          </a:p>
          <a:p>
            <a:pPr eaLnBrk="1" hangingPunct="1"/>
            <a:r>
              <a:rPr lang="en-US" altLang="en-US" b="1" dirty="0"/>
              <a:t>Array Lists</a:t>
            </a:r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en-US" altLang="en-US" dirty="0"/>
              <a:t>internal storage container is native array</a:t>
            </a:r>
          </a:p>
          <a:p>
            <a:pPr eaLnBrk="1" hangingPunct="1"/>
            <a:r>
              <a:rPr lang="en-US" altLang="en-US" b="1" dirty="0"/>
              <a:t>Linked Lists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Marlett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public class Node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Marlett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{	private Object data;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Marlett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	private Node next;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Marlett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}</a:t>
            </a:r>
          </a:p>
        </p:txBody>
      </p:sp>
      <p:grpSp>
        <p:nvGrpSpPr>
          <p:cNvPr id="18437" name="Group 4"/>
          <p:cNvGrpSpPr>
            <a:grpSpLocks/>
          </p:cNvGrpSpPr>
          <p:nvPr/>
        </p:nvGrpSpPr>
        <p:grpSpPr bwMode="auto">
          <a:xfrm>
            <a:off x="685800" y="5410200"/>
            <a:ext cx="1600200" cy="685800"/>
            <a:chOff x="432" y="3408"/>
            <a:chExt cx="1008" cy="432"/>
          </a:xfrm>
        </p:grpSpPr>
        <p:sp>
          <p:nvSpPr>
            <p:cNvPr id="18455" name="Rectangle 5"/>
            <p:cNvSpPr>
              <a:spLocks noChangeArrowheads="1"/>
            </p:cNvSpPr>
            <p:nvPr/>
          </p:nvSpPr>
          <p:spPr bwMode="auto">
            <a:xfrm>
              <a:off x="432" y="3408"/>
              <a:ext cx="1008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8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buFont typeface="Marlett" pitchFamily="2" charset="2"/>
                <a:buNone/>
              </a:pPr>
              <a:endParaRPr lang="en-US" altLang="en-US" sz="2800"/>
            </a:p>
          </p:txBody>
        </p:sp>
        <p:sp>
          <p:nvSpPr>
            <p:cNvPr id="18456" name="Line 6"/>
            <p:cNvSpPr>
              <a:spLocks noChangeShapeType="1"/>
            </p:cNvSpPr>
            <p:nvPr/>
          </p:nvSpPr>
          <p:spPr bwMode="auto">
            <a:xfrm>
              <a:off x="1104" y="34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8" name="Group 7"/>
          <p:cNvGrpSpPr>
            <a:grpSpLocks/>
          </p:cNvGrpSpPr>
          <p:nvPr/>
        </p:nvGrpSpPr>
        <p:grpSpPr bwMode="auto">
          <a:xfrm>
            <a:off x="2667000" y="5410200"/>
            <a:ext cx="1600200" cy="685800"/>
            <a:chOff x="432" y="3408"/>
            <a:chExt cx="1008" cy="432"/>
          </a:xfrm>
        </p:grpSpPr>
        <p:sp>
          <p:nvSpPr>
            <p:cNvPr id="18453" name="Rectangle 8"/>
            <p:cNvSpPr>
              <a:spLocks noChangeArrowheads="1"/>
            </p:cNvSpPr>
            <p:nvPr/>
          </p:nvSpPr>
          <p:spPr bwMode="auto">
            <a:xfrm>
              <a:off x="432" y="3408"/>
              <a:ext cx="1008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8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buFont typeface="Marlett" pitchFamily="2" charset="2"/>
                <a:buNone/>
              </a:pPr>
              <a:endParaRPr lang="en-US" altLang="en-US" sz="2800"/>
            </a:p>
          </p:txBody>
        </p:sp>
        <p:sp>
          <p:nvSpPr>
            <p:cNvPr id="18454" name="Line 9"/>
            <p:cNvSpPr>
              <a:spLocks noChangeShapeType="1"/>
            </p:cNvSpPr>
            <p:nvPr/>
          </p:nvSpPr>
          <p:spPr bwMode="auto">
            <a:xfrm>
              <a:off x="1104" y="34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9" name="Group 10"/>
          <p:cNvGrpSpPr>
            <a:grpSpLocks/>
          </p:cNvGrpSpPr>
          <p:nvPr/>
        </p:nvGrpSpPr>
        <p:grpSpPr bwMode="auto">
          <a:xfrm>
            <a:off x="4800600" y="5410200"/>
            <a:ext cx="1600200" cy="685800"/>
            <a:chOff x="432" y="3408"/>
            <a:chExt cx="1008" cy="432"/>
          </a:xfrm>
        </p:grpSpPr>
        <p:sp>
          <p:nvSpPr>
            <p:cNvPr id="18451" name="Rectangle 11"/>
            <p:cNvSpPr>
              <a:spLocks noChangeArrowheads="1"/>
            </p:cNvSpPr>
            <p:nvPr/>
          </p:nvSpPr>
          <p:spPr bwMode="auto">
            <a:xfrm>
              <a:off x="432" y="3408"/>
              <a:ext cx="1008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8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buFont typeface="Marlett" pitchFamily="2" charset="2"/>
                <a:buNone/>
              </a:pPr>
              <a:endParaRPr lang="en-US" altLang="en-US" sz="2800"/>
            </a:p>
          </p:txBody>
        </p:sp>
        <p:sp>
          <p:nvSpPr>
            <p:cNvPr id="18452" name="Line 12"/>
            <p:cNvSpPr>
              <a:spLocks noChangeShapeType="1"/>
            </p:cNvSpPr>
            <p:nvPr/>
          </p:nvSpPr>
          <p:spPr bwMode="auto">
            <a:xfrm>
              <a:off x="1104" y="34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0" name="Group 13"/>
          <p:cNvGrpSpPr>
            <a:grpSpLocks/>
          </p:cNvGrpSpPr>
          <p:nvPr/>
        </p:nvGrpSpPr>
        <p:grpSpPr bwMode="auto">
          <a:xfrm>
            <a:off x="6781800" y="5410200"/>
            <a:ext cx="1600200" cy="685800"/>
            <a:chOff x="432" y="3408"/>
            <a:chExt cx="1008" cy="432"/>
          </a:xfrm>
        </p:grpSpPr>
        <p:sp>
          <p:nvSpPr>
            <p:cNvPr id="18449" name="Rectangle 14"/>
            <p:cNvSpPr>
              <a:spLocks noChangeArrowheads="1"/>
            </p:cNvSpPr>
            <p:nvPr/>
          </p:nvSpPr>
          <p:spPr bwMode="auto">
            <a:xfrm>
              <a:off x="432" y="3408"/>
              <a:ext cx="1008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8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buFont typeface="Marlett" pitchFamily="2" charset="2"/>
                <a:buNone/>
              </a:pPr>
              <a:endParaRPr lang="en-US" altLang="en-US" sz="2800"/>
            </a:p>
          </p:txBody>
        </p:sp>
        <p:sp>
          <p:nvSpPr>
            <p:cNvPr id="18450" name="Line 15"/>
            <p:cNvSpPr>
              <a:spLocks noChangeShapeType="1"/>
            </p:cNvSpPr>
            <p:nvPr/>
          </p:nvSpPr>
          <p:spPr bwMode="auto">
            <a:xfrm>
              <a:off x="1104" y="34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41" name="Line 16"/>
          <p:cNvSpPr>
            <a:spLocks noChangeShapeType="1"/>
          </p:cNvSpPr>
          <p:nvPr/>
        </p:nvSpPr>
        <p:spPr bwMode="auto">
          <a:xfrm>
            <a:off x="2057400" y="56388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7"/>
          <p:cNvSpPr>
            <a:spLocks noChangeShapeType="1"/>
          </p:cNvSpPr>
          <p:nvPr/>
        </p:nvSpPr>
        <p:spPr bwMode="auto">
          <a:xfrm>
            <a:off x="4191000" y="56388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8"/>
          <p:cNvSpPr>
            <a:spLocks noChangeShapeType="1"/>
          </p:cNvSpPr>
          <p:nvPr/>
        </p:nvSpPr>
        <p:spPr bwMode="auto">
          <a:xfrm>
            <a:off x="6172200" y="56388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19"/>
          <p:cNvSpPr>
            <a:spLocks noChangeShapeType="1"/>
          </p:cNvSpPr>
          <p:nvPr/>
        </p:nvSpPr>
        <p:spPr bwMode="auto">
          <a:xfrm flipH="1">
            <a:off x="7848600" y="54102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20"/>
          <p:cNvSpPr>
            <a:spLocks noChangeShapeType="1"/>
          </p:cNvSpPr>
          <p:nvPr/>
        </p:nvSpPr>
        <p:spPr bwMode="auto">
          <a:xfrm flipH="1">
            <a:off x="1905000" y="5029200"/>
            <a:ext cx="5334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Text Box 21"/>
          <p:cNvSpPr txBox="1">
            <a:spLocks noChangeArrowheads="1"/>
          </p:cNvSpPr>
          <p:nvPr/>
        </p:nvSpPr>
        <p:spPr bwMode="auto">
          <a:xfrm>
            <a:off x="2498725" y="4713288"/>
            <a:ext cx="7572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first</a:t>
            </a:r>
          </a:p>
        </p:txBody>
      </p:sp>
      <p:sp>
        <p:nvSpPr>
          <p:cNvPr id="18447" name="Line 22"/>
          <p:cNvSpPr>
            <a:spLocks noChangeShapeType="1"/>
          </p:cNvSpPr>
          <p:nvPr/>
        </p:nvSpPr>
        <p:spPr bwMode="auto">
          <a:xfrm>
            <a:off x="6477000" y="4876800"/>
            <a:ext cx="8382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8" name="Text Box 23"/>
          <p:cNvSpPr txBox="1">
            <a:spLocks noChangeArrowheads="1"/>
          </p:cNvSpPr>
          <p:nvPr/>
        </p:nvSpPr>
        <p:spPr bwMode="auto">
          <a:xfrm>
            <a:off x="5943600" y="4419600"/>
            <a:ext cx="738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last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E6644-0E49-465F-A776-47058F1591F0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550" y="1676400"/>
            <a:ext cx="3292475" cy="99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362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/>
              <a:t>Stacks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Collection with access only to the last element inserted</a:t>
            </a:r>
          </a:p>
          <a:p>
            <a:pPr eaLnBrk="1" hangingPunct="1"/>
            <a:r>
              <a:rPr lang="en-US" altLang="en-US"/>
              <a:t>Last in first out</a:t>
            </a:r>
          </a:p>
          <a:p>
            <a:pPr eaLnBrk="1" hangingPunct="1"/>
            <a:r>
              <a:rPr lang="en-US" altLang="en-US"/>
              <a:t>insert/push</a:t>
            </a:r>
          </a:p>
          <a:p>
            <a:pPr eaLnBrk="1" hangingPunct="1"/>
            <a:r>
              <a:rPr lang="en-US" altLang="en-US"/>
              <a:t>remove/pop</a:t>
            </a:r>
          </a:p>
          <a:p>
            <a:pPr eaLnBrk="1" hangingPunct="1"/>
            <a:r>
              <a:rPr lang="en-US" altLang="en-US"/>
              <a:t>top</a:t>
            </a:r>
          </a:p>
          <a:p>
            <a:pPr eaLnBrk="1" hangingPunct="1"/>
            <a:r>
              <a:rPr lang="en-US" altLang="en-US"/>
              <a:t>make empty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4876800" y="3581400"/>
            <a:ext cx="167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4876800" y="2971800"/>
            <a:ext cx="167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4876800" y="2362200"/>
            <a:ext cx="167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9464" name="Rectangle 7"/>
          <p:cNvSpPr>
            <a:spLocks noChangeArrowheads="1"/>
          </p:cNvSpPr>
          <p:nvPr/>
        </p:nvSpPr>
        <p:spPr bwMode="auto">
          <a:xfrm>
            <a:off x="4876800" y="1752600"/>
            <a:ext cx="167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9465" name="Line 8"/>
          <p:cNvSpPr>
            <a:spLocks noChangeShapeType="1"/>
          </p:cNvSpPr>
          <p:nvPr/>
        </p:nvSpPr>
        <p:spPr bwMode="auto">
          <a:xfrm flipH="1">
            <a:off x="6781800" y="20574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Text Box 9"/>
          <p:cNvSpPr txBox="1">
            <a:spLocks noChangeArrowheads="1"/>
          </p:cNvSpPr>
          <p:nvPr/>
        </p:nvSpPr>
        <p:spPr bwMode="auto">
          <a:xfrm>
            <a:off x="7848600" y="1741488"/>
            <a:ext cx="798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Top</a:t>
            </a:r>
          </a:p>
        </p:txBody>
      </p:sp>
      <p:sp>
        <p:nvSpPr>
          <p:cNvPr id="19467" name="Text Box 10"/>
          <p:cNvSpPr txBox="1">
            <a:spLocks noChangeArrowheads="1"/>
          </p:cNvSpPr>
          <p:nvPr/>
        </p:nvSpPr>
        <p:spPr bwMode="auto">
          <a:xfrm>
            <a:off x="5148263" y="1741488"/>
            <a:ext cx="1135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Data4</a:t>
            </a:r>
          </a:p>
        </p:txBody>
      </p:sp>
      <p:sp>
        <p:nvSpPr>
          <p:cNvPr id="19468" name="Text Box 11"/>
          <p:cNvSpPr txBox="1">
            <a:spLocks noChangeArrowheads="1"/>
          </p:cNvSpPr>
          <p:nvPr/>
        </p:nvSpPr>
        <p:spPr bwMode="auto">
          <a:xfrm>
            <a:off x="5148263" y="2354263"/>
            <a:ext cx="1135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Data3</a:t>
            </a:r>
          </a:p>
        </p:txBody>
      </p:sp>
      <p:sp>
        <p:nvSpPr>
          <p:cNvPr id="19469" name="Text Box 12"/>
          <p:cNvSpPr txBox="1">
            <a:spLocks noChangeArrowheads="1"/>
          </p:cNvSpPr>
          <p:nvPr/>
        </p:nvSpPr>
        <p:spPr bwMode="auto">
          <a:xfrm>
            <a:off x="5148263" y="2967038"/>
            <a:ext cx="1135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Data2</a:t>
            </a:r>
          </a:p>
        </p:txBody>
      </p:sp>
      <p:sp>
        <p:nvSpPr>
          <p:cNvPr id="19470" name="Text Box 13"/>
          <p:cNvSpPr txBox="1">
            <a:spLocks noChangeArrowheads="1"/>
          </p:cNvSpPr>
          <p:nvPr/>
        </p:nvSpPr>
        <p:spPr bwMode="auto">
          <a:xfrm>
            <a:off x="5148263" y="3581400"/>
            <a:ext cx="1135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Data1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E6644-0E49-465F-A776-47058F1591F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06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/>
              <a:t>Queues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Collection with access only to the item that has been present the longest</a:t>
            </a:r>
          </a:p>
          <a:p>
            <a:pPr eaLnBrk="1" hangingPunct="1"/>
            <a:r>
              <a:rPr lang="en-US" altLang="en-US"/>
              <a:t>Last in last out or first in first out</a:t>
            </a:r>
          </a:p>
          <a:p>
            <a:pPr eaLnBrk="1" hangingPunct="1"/>
            <a:r>
              <a:rPr lang="en-US" altLang="en-US"/>
              <a:t>enqueue, dequeue, front, rear</a:t>
            </a:r>
          </a:p>
          <a:p>
            <a:pPr eaLnBrk="1" hangingPunct="1"/>
            <a:r>
              <a:rPr lang="en-US" altLang="en-US"/>
              <a:t>priority queues and deques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719138" y="5105400"/>
            <a:ext cx="167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2395538" y="5110163"/>
            <a:ext cx="167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4071938" y="5113338"/>
            <a:ext cx="167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20488" name="Rectangle 7"/>
          <p:cNvSpPr>
            <a:spLocks noChangeArrowheads="1"/>
          </p:cNvSpPr>
          <p:nvPr/>
        </p:nvSpPr>
        <p:spPr bwMode="auto">
          <a:xfrm>
            <a:off x="5748338" y="5116513"/>
            <a:ext cx="167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20489" name="Line 8"/>
          <p:cNvSpPr>
            <a:spLocks noChangeShapeType="1"/>
          </p:cNvSpPr>
          <p:nvPr/>
        </p:nvSpPr>
        <p:spPr bwMode="auto">
          <a:xfrm flipH="1">
            <a:off x="1447800" y="43434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Text Box 9"/>
          <p:cNvSpPr txBox="1">
            <a:spLocks noChangeArrowheads="1"/>
          </p:cNvSpPr>
          <p:nvPr/>
        </p:nvSpPr>
        <p:spPr bwMode="auto">
          <a:xfrm>
            <a:off x="6019800" y="5105400"/>
            <a:ext cx="1135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Data4</a:t>
            </a:r>
          </a:p>
        </p:txBody>
      </p:sp>
      <p:sp>
        <p:nvSpPr>
          <p:cNvPr id="20491" name="Text Box 10"/>
          <p:cNvSpPr txBox="1">
            <a:spLocks noChangeArrowheads="1"/>
          </p:cNvSpPr>
          <p:nvPr/>
        </p:nvSpPr>
        <p:spPr bwMode="auto">
          <a:xfrm>
            <a:off x="4343400" y="5105400"/>
            <a:ext cx="1135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Data3</a:t>
            </a:r>
          </a:p>
        </p:txBody>
      </p:sp>
      <p:sp>
        <p:nvSpPr>
          <p:cNvPr id="20492" name="Text Box 11"/>
          <p:cNvSpPr txBox="1">
            <a:spLocks noChangeArrowheads="1"/>
          </p:cNvSpPr>
          <p:nvPr/>
        </p:nvSpPr>
        <p:spPr bwMode="auto">
          <a:xfrm>
            <a:off x="2667000" y="5105400"/>
            <a:ext cx="1135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Data2</a:t>
            </a:r>
          </a:p>
        </p:txBody>
      </p:sp>
      <p:sp>
        <p:nvSpPr>
          <p:cNvPr id="20493" name="Text Box 12"/>
          <p:cNvSpPr txBox="1">
            <a:spLocks noChangeArrowheads="1"/>
          </p:cNvSpPr>
          <p:nvPr/>
        </p:nvSpPr>
        <p:spPr bwMode="auto">
          <a:xfrm>
            <a:off x="990600" y="5105400"/>
            <a:ext cx="1135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Data1</a:t>
            </a:r>
          </a:p>
        </p:txBody>
      </p:sp>
      <p:sp>
        <p:nvSpPr>
          <p:cNvPr id="20494" name="Text Box 13"/>
          <p:cNvSpPr txBox="1">
            <a:spLocks noChangeArrowheads="1"/>
          </p:cNvSpPr>
          <p:nvPr/>
        </p:nvSpPr>
        <p:spPr bwMode="auto">
          <a:xfrm>
            <a:off x="974725" y="3722688"/>
            <a:ext cx="101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Front</a:t>
            </a:r>
          </a:p>
        </p:txBody>
      </p:sp>
      <p:sp>
        <p:nvSpPr>
          <p:cNvPr id="20495" name="Line 14"/>
          <p:cNvSpPr>
            <a:spLocks noChangeShapeType="1"/>
          </p:cNvSpPr>
          <p:nvPr/>
        </p:nvSpPr>
        <p:spPr bwMode="auto">
          <a:xfrm flipH="1">
            <a:off x="6797675" y="45069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6" name="Text Box 15"/>
          <p:cNvSpPr txBox="1">
            <a:spLocks noChangeArrowheads="1"/>
          </p:cNvSpPr>
          <p:nvPr/>
        </p:nvSpPr>
        <p:spPr bwMode="auto">
          <a:xfrm>
            <a:off x="6324600" y="3886200"/>
            <a:ext cx="965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Rear</a:t>
            </a:r>
          </a:p>
        </p:txBody>
      </p:sp>
      <p:sp>
        <p:nvSpPr>
          <p:cNvPr id="20497" name="Text Box 13"/>
          <p:cNvSpPr txBox="1">
            <a:spLocks noChangeArrowheads="1"/>
          </p:cNvSpPr>
          <p:nvPr/>
        </p:nvSpPr>
        <p:spPr bwMode="auto">
          <a:xfrm>
            <a:off x="381000" y="4170363"/>
            <a:ext cx="935038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1600"/>
              <a:t>Deletion</a:t>
            </a:r>
          </a:p>
        </p:txBody>
      </p:sp>
      <p:sp>
        <p:nvSpPr>
          <p:cNvPr id="20498" name="Text Box 13"/>
          <p:cNvSpPr txBox="1">
            <a:spLocks noChangeArrowheads="1"/>
          </p:cNvSpPr>
          <p:nvPr/>
        </p:nvSpPr>
        <p:spPr bwMode="auto">
          <a:xfrm>
            <a:off x="6958013" y="4310063"/>
            <a:ext cx="9715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1600"/>
              <a:t>Insertion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E6644-0E49-465F-A776-47058F1591F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8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/>
              <a:t>Trees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Similar to a linked list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 typeface="Marlett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public class </a:t>
            </a:r>
            <a:r>
              <a:rPr lang="en-US" altLang="en-US" sz="2000" dirty="0" err="1">
                <a:latin typeface="Courier New" pitchFamily="49" charset="0"/>
              </a:rPr>
              <a:t>TreeNode</a:t>
            </a:r>
            <a:endParaRPr lang="en-US" altLang="en-US" sz="2000" dirty="0">
              <a:latin typeface="Courier New" pitchFamily="49" charset="0"/>
            </a:endParaRP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 typeface="Marlett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{	private Object data;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 typeface="Marlett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	private </a:t>
            </a:r>
            <a:r>
              <a:rPr lang="en-US" altLang="en-US" sz="2000" dirty="0" err="1">
                <a:latin typeface="Courier New" pitchFamily="49" charset="0"/>
              </a:rPr>
              <a:t>TreeNode</a:t>
            </a:r>
            <a:r>
              <a:rPr lang="en-US" altLang="en-US" sz="2000" dirty="0">
                <a:latin typeface="Courier New" pitchFamily="49" charset="0"/>
              </a:rPr>
              <a:t> left;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 typeface="Marlett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	private </a:t>
            </a:r>
            <a:r>
              <a:rPr lang="en-US" altLang="en-US" sz="2000" dirty="0" err="1">
                <a:latin typeface="Courier New" pitchFamily="49" charset="0"/>
              </a:rPr>
              <a:t>TreeNode</a:t>
            </a:r>
            <a:r>
              <a:rPr lang="en-US" altLang="en-US" sz="2000" dirty="0">
                <a:latin typeface="Courier New" pitchFamily="49" charset="0"/>
              </a:rPr>
              <a:t> right;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 typeface="Marlett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Marlett" pitchFamily="2" charset="2"/>
              <a:buNone/>
            </a:pPr>
            <a:endParaRPr lang="en-US" altLang="en-US" dirty="0"/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4267200" y="3200400"/>
            <a:ext cx="12192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21510" name="Line 5"/>
          <p:cNvSpPr>
            <a:spLocks noChangeShapeType="1"/>
          </p:cNvSpPr>
          <p:nvPr/>
        </p:nvSpPr>
        <p:spPr bwMode="auto">
          <a:xfrm>
            <a:off x="4267200" y="3581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Line 6"/>
          <p:cNvSpPr>
            <a:spLocks noChangeShapeType="1"/>
          </p:cNvSpPr>
          <p:nvPr/>
        </p:nvSpPr>
        <p:spPr bwMode="auto">
          <a:xfrm>
            <a:off x="4876800" y="3581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Line 7"/>
          <p:cNvSpPr>
            <a:spLocks noChangeShapeType="1"/>
          </p:cNvSpPr>
          <p:nvPr/>
        </p:nvSpPr>
        <p:spPr bwMode="auto">
          <a:xfrm flipH="1">
            <a:off x="4114800" y="3886200"/>
            <a:ext cx="4572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8"/>
          <p:cNvSpPr>
            <a:spLocks noChangeShapeType="1"/>
          </p:cNvSpPr>
          <p:nvPr/>
        </p:nvSpPr>
        <p:spPr bwMode="auto">
          <a:xfrm>
            <a:off x="5334000" y="3886200"/>
            <a:ext cx="685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5334000" y="4419600"/>
            <a:ext cx="12192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21515" name="Line 10"/>
          <p:cNvSpPr>
            <a:spLocks noChangeShapeType="1"/>
          </p:cNvSpPr>
          <p:nvPr/>
        </p:nvSpPr>
        <p:spPr bwMode="auto">
          <a:xfrm>
            <a:off x="5334000" y="4800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1"/>
          <p:cNvSpPr>
            <a:spLocks noChangeShapeType="1"/>
          </p:cNvSpPr>
          <p:nvPr/>
        </p:nvSpPr>
        <p:spPr bwMode="auto">
          <a:xfrm>
            <a:off x="59436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7" name="Rectangle 12"/>
          <p:cNvSpPr>
            <a:spLocks noChangeArrowheads="1"/>
          </p:cNvSpPr>
          <p:nvPr/>
        </p:nvSpPr>
        <p:spPr bwMode="auto">
          <a:xfrm>
            <a:off x="3048000" y="4419600"/>
            <a:ext cx="12192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21518" name="Line 13"/>
          <p:cNvSpPr>
            <a:spLocks noChangeShapeType="1"/>
          </p:cNvSpPr>
          <p:nvPr/>
        </p:nvSpPr>
        <p:spPr bwMode="auto">
          <a:xfrm>
            <a:off x="3048000" y="4800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9" name="Line 14"/>
          <p:cNvSpPr>
            <a:spLocks noChangeShapeType="1"/>
          </p:cNvSpPr>
          <p:nvPr/>
        </p:nvSpPr>
        <p:spPr bwMode="auto">
          <a:xfrm>
            <a:off x="3657600" y="480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0" name="Line 15"/>
          <p:cNvSpPr>
            <a:spLocks noChangeShapeType="1"/>
          </p:cNvSpPr>
          <p:nvPr/>
        </p:nvSpPr>
        <p:spPr bwMode="auto">
          <a:xfrm flipH="1">
            <a:off x="5486400" y="3048000"/>
            <a:ext cx="14478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1" name="Text Box 16"/>
          <p:cNvSpPr txBox="1">
            <a:spLocks noChangeArrowheads="1"/>
          </p:cNvSpPr>
          <p:nvPr/>
        </p:nvSpPr>
        <p:spPr bwMode="auto">
          <a:xfrm>
            <a:off x="7146925" y="2732088"/>
            <a:ext cx="936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lang="en-US" altLang="en-US" sz="2800"/>
              <a:t>Root</a:t>
            </a:r>
          </a:p>
        </p:txBody>
      </p:sp>
      <p:sp>
        <p:nvSpPr>
          <p:cNvPr id="21522" name="Line 17"/>
          <p:cNvSpPr>
            <a:spLocks noChangeShapeType="1"/>
          </p:cNvSpPr>
          <p:nvPr/>
        </p:nvSpPr>
        <p:spPr bwMode="auto">
          <a:xfrm flipH="1">
            <a:off x="2819400" y="51816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3" name="Line 18"/>
          <p:cNvSpPr>
            <a:spLocks noChangeShapeType="1"/>
          </p:cNvSpPr>
          <p:nvPr/>
        </p:nvSpPr>
        <p:spPr bwMode="auto">
          <a:xfrm>
            <a:off x="4038600" y="5105400"/>
            <a:ext cx="685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4" name="Rectangle 19"/>
          <p:cNvSpPr>
            <a:spLocks noChangeArrowheads="1"/>
          </p:cNvSpPr>
          <p:nvPr/>
        </p:nvSpPr>
        <p:spPr bwMode="auto">
          <a:xfrm>
            <a:off x="4038600" y="5410200"/>
            <a:ext cx="12192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21525" name="Line 20"/>
          <p:cNvSpPr>
            <a:spLocks noChangeShapeType="1"/>
          </p:cNvSpPr>
          <p:nvPr/>
        </p:nvSpPr>
        <p:spPr bwMode="auto">
          <a:xfrm>
            <a:off x="4038600" y="5791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6" name="Line 21"/>
          <p:cNvSpPr>
            <a:spLocks noChangeShapeType="1"/>
          </p:cNvSpPr>
          <p:nvPr/>
        </p:nvSpPr>
        <p:spPr bwMode="auto">
          <a:xfrm>
            <a:off x="4648200" y="579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7" name="Rectangle 22"/>
          <p:cNvSpPr>
            <a:spLocks noChangeArrowheads="1"/>
          </p:cNvSpPr>
          <p:nvPr/>
        </p:nvSpPr>
        <p:spPr bwMode="auto">
          <a:xfrm>
            <a:off x="1752600" y="5410200"/>
            <a:ext cx="12192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21528" name="Line 23"/>
          <p:cNvSpPr>
            <a:spLocks noChangeShapeType="1"/>
          </p:cNvSpPr>
          <p:nvPr/>
        </p:nvSpPr>
        <p:spPr bwMode="auto">
          <a:xfrm>
            <a:off x="1752600" y="5791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9" name="Line 24"/>
          <p:cNvSpPr>
            <a:spLocks noChangeShapeType="1"/>
          </p:cNvSpPr>
          <p:nvPr/>
        </p:nvSpPr>
        <p:spPr bwMode="auto">
          <a:xfrm>
            <a:off x="2362200" y="579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0" name="Line 25"/>
          <p:cNvSpPr>
            <a:spLocks noChangeShapeType="1"/>
          </p:cNvSpPr>
          <p:nvPr/>
        </p:nvSpPr>
        <p:spPr bwMode="auto">
          <a:xfrm>
            <a:off x="1752600" y="5791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1" name="Line 26"/>
          <p:cNvSpPr>
            <a:spLocks noChangeShapeType="1"/>
          </p:cNvSpPr>
          <p:nvPr/>
        </p:nvSpPr>
        <p:spPr bwMode="auto">
          <a:xfrm>
            <a:off x="2362200" y="5791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2" name="Line 27"/>
          <p:cNvSpPr>
            <a:spLocks noChangeShapeType="1"/>
          </p:cNvSpPr>
          <p:nvPr/>
        </p:nvSpPr>
        <p:spPr bwMode="auto">
          <a:xfrm>
            <a:off x="4038600" y="5791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3" name="Line 28"/>
          <p:cNvSpPr>
            <a:spLocks noChangeShapeType="1"/>
          </p:cNvSpPr>
          <p:nvPr/>
        </p:nvSpPr>
        <p:spPr bwMode="auto">
          <a:xfrm>
            <a:off x="4648200" y="5791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4" name="Line 29"/>
          <p:cNvSpPr>
            <a:spLocks noChangeShapeType="1"/>
          </p:cNvSpPr>
          <p:nvPr/>
        </p:nvSpPr>
        <p:spPr bwMode="auto">
          <a:xfrm>
            <a:off x="5334000" y="48006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5" name="Line 30"/>
          <p:cNvSpPr>
            <a:spLocks noChangeShapeType="1"/>
          </p:cNvSpPr>
          <p:nvPr/>
        </p:nvSpPr>
        <p:spPr bwMode="auto">
          <a:xfrm>
            <a:off x="6324600" y="5105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6" name="Rectangle 31"/>
          <p:cNvSpPr>
            <a:spLocks noChangeArrowheads="1"/>
          </p:cNvSpPr>
          <p:nvPr/>
        </p:nvSpPr>
        <p:spPr bwMode="auto">
          <a:xfrm>
            <a:off x="6096000" y="5562600"/>
            <a:ext cx="12192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21537" name="Line 32"/>
          <p:cNvSpPr>
            <a:spLocks noChangeShapeType="1"/>
          </p:cNvSpPr>
          <p:nvPr/>
        </p:nvSpPr>
        <p:spPr bwMode="auto">
          <a:xfrm>
            <a:off x="6096000" y="5943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8" name="Line 33"/>
          <p:cNvSpPr>
            <a:spLocks noChangeShapeType="1"/>
          </p:cNvSpPr>
          <p:nvPr/>
        </p:nvSpPr>
        <p:spPr bwMode="auto">
          <a:xfrm>
            <a:off x="67056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9" name="Line 34"/>
          <p:cNvSpPr>
            <a:spLocks noChangeShapeType="1"/>
          </p:cNvSpPr>
          <p:nvPr/>
        </p:nvSpPr>
        <p:spPr bwMode="auto">
          <a:xfrm>
            <a:off x="6096000" y="59436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0" name="Line 35"/>
          <p:cNvSpPr>
            <a:spLocks noChangeShapeType="1"/>
          </p:cNvSpPr>
          <p:nvPr/>
        </p:nvSpPr>
        <p:spPr bwMode="auto">
          <a:xfrm>
            <a:off x="6705600" y="59436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E6644-0E49-465F-A776-47058F1591F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97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Hash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sz="3600" b="1" dirty="0"/>
              <a:t>Tables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altLang="en-US" dirty="0"/>
              <a:t>Take a key, apply function</a:t>
            </a:r>
          </a:p>
          <a:p>
            <a:pPr eaLnBrk="1" hangingPunct="1"/>
            <a:r>
              <a:rPr lang="en-US" altLang="en-US" dirty="0"/>
              <a:t>f(key) = hash value</a:t>
            </a:r>
          </a:p>
          <a:p>
            <a:pPr eaLnBrk="1" hangingPunct="1"/>
            <a:r>
              <a:rPr lang="en-US" altLang="en-US" dirty="0"/>
              <a:t>store data or object based on hash value</a:t>
            </a:r>
          </a:p>
          <a:p>
            <a:pPr eaLnBrk="1" hangingPunct="1"/>
            <a:r>
              <a:rPr lang="en-US" altLang="en-US" dirty="0"/>
              <a:t>Sorting O(N), access O(1) if a perfect hash function and enough memory for table</a:t>
            </a:r>
          </a:p>
          <a:p>
            <a:pPr eaLnBrk="1" hangingPunct="1"/>
            <a:r>
              <a:rPr lang="en-US" altLang="en-US" dirty="0"/>
              <a:t>how deal with collisions?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E6644-0E49-465F-A776-47058F1591F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89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What data structure to use?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" y="4091473"/>
            <a:ext cx="91440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kumimoji="1" lang="en-US" altLang="zh-TW" sz="2400" dirty="0">
                <a:ea typeface="新細明體" pitchFamily="18" charset="-120"/>
              </a:rPr>
              <a:t>	Data structures let the input and output be represented in a way that can be handled efficiently and effectively.</a:t>
            </a:r>
            <a:endParaRPr kumimoji="1" lang="en-US" altLang="en-US" sz="2400" dirty="0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838200" y="2133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1447800" y="2133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2057400" y="2133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2667000" y="2133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3276600" y="2133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4495800" y="2133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5105400" y="2133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5715000" y="2133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6324600" y="2133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934200" y="2133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838200" y="3006725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>
            <a:off x="1447800" y="33115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1828800" y="3006725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58" name="Line 18"/>
          <p:cNvSpPr>
            <a:spLocks noChangeShapeType="1"/>
          </p:cNvSpPr>
          <p:nvPr/>
        </p:nvSpPr>
        <p:spPr bwMode="auto">
          <a:xfrm>
            <a:off x="2438400" y="33115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2819400" y="3006725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>
            <a:off x="3429000" y="33115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3810000" y="3006725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>
            <a:off x="4419600" y="33115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4800600" y="3006725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64" name="Line 24"/>
          <p:cNvSpPr>
            <a:spLocks noChangeShapeType="1"/>
          </p:cNvSpPr>
          <p:nvPr/>
        </p:nvSpPr>
        <p:spPr bwMode="auto">
          <a:xfrm>
            <a:off x="5410200" y="33115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5" name="Rectangle 25"/>
          <p:cNvSpPr>
            <a:spLocks noChangeArrowheads="1"/>
          </p:cNvSpPr>
          <p:nvPr/>
        </p:nvSpPr>
        <p:spPr bwMode="auto">
          <a:xfrm>
            <a:off x="5791200" y="3006725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66" name="Line 26"/>
          <p:cNvSpPr>
            <a:spLocks noChangeShapeType="1"/>
          </p:cNvSpPr>
          <p:nvPr/>
        </p:nvSpPr>
        <p:spPr bwMode="auto">
          <a:xfrm>
            <a:off x="6400800" y="33115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7" name="Rectangle 27"/>
          <p:cNvSpPr>
            <a:spLocks noChangeArrowheads="1"/>
          </p:cNvSpPr>
          <p:nvPr/>
        </p:nvSpPr>
        <p:spPr bwMode="auto">
          <a:xfrm>
            <a:off x="6781800" y="3006725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68" name="Oval 28"/>
          <p:cNvSpPr>
            <a:spLocks noChangeArrowheads="1"/>
          </p:cNvSpPr>
          <p:nvPr/>
        </p:nvSpPr>
        <p:spPr bwMode="auto">
          <a:xfrm>
            <a:off x="990600" y="41148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69" name="Oval 29"/>
          <p:cNvSpPr>
            <a:spLocks noChangeArrowheads="1"/>
          </p:cNvSpPr>
          <p:nvPr/>
        </p:nvSpPr>
        <p:spPr bwMode="auto">
          <a:xfrm>
            <a:off x="533400" y="4648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70" name="Oval 30"/>
          <p:cNvSpPr>
            <a:spLocks noChangeArrowheads="1"/>
          </p:cNvSpPr>
          <p:nvPr/>
        </p:nvSpPr>
        <p:spPr bwMode="auto">
          <a:xfrm>
            <a:off x="76200" y="5181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71" name="Line 31"/>
          <p:cNvSpPr>
            <a:spLocks noChangeShapeType="1"/>
          </p:cNvSpPr>
          <p:nvPr/>
        </p:nvSpPr>
        <p:spPr bwMode="auto">
          <a:xfrm flipH="1">
            <a:off x="762000" y="4343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 flipH="1">
            <a:off x="304800" y="49530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3" name="Oval 33"/>
          <p:cNvSpPr>
            <a:spLocks noChangeArrowheads="1"/>
          </p:cNvSpPr>
          <p:nvPr/>
        </p:nvSpPr>
        <p:spPr bwMode="auto">
          <a:xfrm>
            <a:off x="1447800" y="4648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74" name="Oval 34"/>
          <p:cNvSpPr>
            <a:spLocks noChangeArrowheads="1"/>
          </p:cNvSpPr>
          <p:nvPr/>
        </p:nvSpPr>
        <p:spPr bwMode="auto">
          <a:xfrm>
            <a:off x="1905000" y="5181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>
            <a:off x="1295400" y="4419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>
            <a:off x="1752600" y="4876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7" name="Oval 37"/>
          <p:cNvSpPr>
            <a:spLocks noChangeArrowheads="1"/>
          </p:cNvSpPr>
          <p:nvPr/>
        </p:nvSpPr>
        <p:spPr bwMode="auto">
          <a:xfrm>
            <a:off x="762000" y="52578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>
            <a:off x="762000" y="49530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9" name="AutoShape 39"/>
          <p:cNvSpPr>
            <a:spLocks noChangeArrowheads="1"/>
          </p:cNvSpPr>
          <p:nvPr/>
        </p:nvSpPr>
        <p:spPr bwMode="auto">
          <a:xfrm>
            <a:off x="3908425" y="4495800"/>
            <a:ext cx="2362200" cy="838200"/>
          </a:xfrm>
          <a:prstGeom prst="flowChartMagneticDrum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>
            <a:off x="304800" y="327342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>
            <a:off x="5257800" y="483552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2" name="AutoShape 42"/>
          <p:cNvSpPr>
            <a:spLocks noChangeArrowheads="1"/>
          </p:cNvSpPr>
          <p:nvPr/>
        </p:nvSpPr>
        <p:spPr bwMode="auto">
          <a:xfrm>
            <a:off x="7010400" y="4378325"/>
            <a:ext cx="1219200" cy="13716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endParaRPr lang="en-US" altLang="en-US" sz="2800"/>
          </a:p>
        </p:txBody>
      </p:sp>
      <p:sp>
        <p:nvSpPr>
          <p:cNvPr id="10283" name="Freeform 43"/>
          <p:cNvSpPr>
            <a:spLocks/>
          </p:cNvSpPr>
          <p:nvPr/>
        </p:nvSpPr>
        <p:spPr bwMode="auto">
          <a:xfrm>
            <a:off x="6705600" y="3971925"/>
            <a:ext cx="723900" cy="635000"/>
          </a:xfrm>
          <a:custGeom>
            <a:avLst/>
            <a:gdLst>
              <a:gd name="T0" fmla="*/ 0 w 456"/>
              <a:gd name="T1" fmla="*/ 2147483647 h 400"/>
              <a:gd name="T2" fmla="*/ 2147483647 w 456"/>
              <a:gd name="T3" fmla="*/ 2147483647 h 400"/>
              <a:gd name="T4" fmla="*/ 2147483647 w 456"/>
              <a:gd name="T5" fmla="*/ 2147483647 h 4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56" h="400">
                <a:moveTo>
                  <a:pt x="0" y="16"/>
                </a:moveTo>
                <a:cubicBezTo>
                  <a:pt x="156" y="8"/>
                  <a:pt x="312" y="0"/>
                  <a:pt x="384" y="64"/>
                </a:cubicBezTo>
                <a:cubicBezTo>
                  <a:pt x="456" y="128"/>
                  <a:pt x="424" y="344"/>
                  <a:pt x="432" y="40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4" name="Freeform 44"/>
          <p:cNvSpPr>
            <a:spLocks/>
          </p:cNvSpPr>
          <p:nvPr/>
        </p:nvSpPr>
        <p:spPr bwMode="auto">
          <a:xfrm>
            <a:off x="7670800" y="4229100"/>
            <a:ext cx="711200" cy="723900"/>
          </a:xfrm>
          <a:custGeom>
            <a:avLst/>
            <a:gdLst>
              <a:gd name="T0" fmla="*/ 2147483647 w 448"/>
              <a:gd name="T1" fmla="*/ 2147483647 h 456"/>
              <a:gd name="T2" fmla="*/ 2147483647 w 448"/>
              <a:gd name="T3" fmla="*/ 2147483647 h 456"/>
              <a:gd name="T4" fmla="*/ 2147483647 w 448"/>
              <a:gd name="T5" fmla="*/ 2147483647 h 4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48" h="456">
                <a:moveTo>
                  <a:pt x="64" y="456"/>
                </a:moveTo>
                <a:cubicBezTo>
                  <a:pt x="32" y="300"/>
                  <a:pt x="0" y="144"/>
                  <a:pt x="64" y="72"/>
                </a:cubicBezTo>
                <a:cubicBezTo>
                  <a:pt x="128" y="0"/>
                  <a:pt x="384" y="32"/>
                  <a:pt x="448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5" name="Text Box 45"/>
          <p:cNvSpPr txBox="1">
            <a:spLocks noChangeArrowheads="1"/>
          </p:cNvSpPr>
          <p:nvPr/>
        </p:nvSpPr>
        <p:spPr bwMode="auto">
          <a:xfrm>
            <a:off x="7680325" y="2174875"/>
            <a:ext cx="80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kumimoji="1" lang="en-US" altLang="zh-TW" sz="2400">
                <a:latin typeface="Times New Roman" pitchFamily="18" charset="0"/>
                <a:ea typeface="新細明體" pitchFamily="18" charset="-120"/>
              </a:rPr>
              <a:t>array</a:t>
            </a:r>
          </a:p>
        </p:txBody>
      </p:sp>
      <p:sp>
        <p:nvSpPr>
          <p:cNvPr id="10286" name="Text Box 46"/>
          <p:cNvSpPr txBox="1">
            <a:spLocks noChangeArrowheads="1"/>
          </p:cNvSpPr>
          <p:nvPr/>
        </p:nvSpPr>
        <p:spPr bwMode="auto">
          <a:xfrm>
            <a:off x="7635081" y="3290888"/>
            <a:ext cx="1493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kumimoji="1" lang="en-US" altLang="zh-TW" sz="2400" dirty="0">
                <a:latin typeface="Times New Roman" pitchFamily="18" charset="0"/>
                <a:ea typeface="新細明體" pitchFamily="18" charset="-120"/>
              </a:rPr>
              <a:t>Linked list</a:t>
            </a:r>
          </a:p>
        </p:txBody>
      </p:sp>
      <p:sp>
        <p:nvSpPr>
          <p:cNvPr id="10287" name="Text Box 47"/>
          <p:cNvSpPr txBox="1">
            <a:spLocks noChangeArrowheads="1"/>
          </p:cNvSpPr>
          <p:nvPr/>
        </p:nvSpPr>
        <p:spPr bwMode="auto">
          <a:xfrm>
            <a:off x="974725" y="5603875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kumimoji="1" lang="en-US" altLang="zh-TW" sz="2400">
                <a:latin typeface="Times New Roman" pitchFamily="18" charset="0"/>
                <a:ea typeface="新細明體" pitchFamily="18" charset="-120"/>
              </a:rPr>
              <a:t>tree</a:t>
            </a:r>
          </a:p>
        </p:txBody>
      </p:sp>
      <p:sp>
        <p:nvSpPr>
          <p:cNvPr id="10288" name="Text Box 48"/>
          <p:cNvSpPr txBox="1">
            <a:spLocks noChangeArrowheads="1"/>
          </p:cNvSpPr>
          <p:nvPr/>
        </p:nvSpPr>
        <p:spPr bwMode="auto">
          <a:xfrm>
            <a:off x="3717925" y="5334000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kumimoji="1" lang="en-US" altLang="zh-TW" sz="2400">
                <a:latin typeface="Times New Roman" pitchFamily="18" charset="0"/>
                <a:ea typeface="新細明體" pitchFamily="18" charset="-120"/>
              </a:rPr>
              <a:t>queue</a:t>
            </a:r>
          </a:p>
        </p:txBody>
      </p:sp>
      <p:sp>
        <p:nvSpPr>
          <p:cNvPr id="10289" name="Text Box 49"/>
          <p:cNvSpPr txBox="1">
            <a:spLocks noChangeArrowheads="1"/>
          </p:cNvSpPr>
          <p:nvPr/>
        </p:nvSpPr>
        <p:spPr bwMode="auto">
          <a:xfrm>
            <a:off x="6994525" y="5638800"/>
            <a:ext cx="80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8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Marlett" pitchFamily="2" charset="2"/>
              <a:buNone/>
            </a:pPr>
            <a:r>
              <a:rPr kumimoji="1" lang="en-US" altLang="zh-TW" sz="2400">
                <a:latin typeface="Times New Roman" pitchFamily="18" charset="0"/>
                <a:ea typeface="新細明體" pitchFamily="18" charset="-120"/>
              </a:rPr>
              <a:t>stack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E6644-0E49-465F-A776-47058F1591F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44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 we learned:</a:t>
            </a:r>
          </a:p>
          <a:p>
            <a:r>
              <a:t>✔ Data vs Information, Entities, Records</a:t>
            </a:r>
          </a:p>
          <a:p>
            <a:r>
              <a:t>✔ Abstract Data Types (ADT)</a:t>
            </a:r>
          </a:p>
          <a:p>
            <a:r>
              <a:t>✔ Organization of Data</a:t>
            </a:r>
          </a:p>
          <a:p>
            <a:r>
              <a:t>✔ Structure Operations with examples</a:t>
            </a:r>
          </a:p>
          <a:p>
            <a:r>
              <a:t>Next Week: Arrays → One of the most fundamental structures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38</TotalTime>
  <Words>1190</Words>
  <Application>Microsoft Office PowerPoint</Application>
  <PresentationFormat>On-screen Show (4:3)</PresentationFormat>
  <Paragraphs>199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新細明體</vt:lpstr>
      <vt:lpstr>Arial</vt:lpstr>
      <vt:lpstr>Calibri</vt:lpstr>
      <vt:lpstr>Calibri Light</vt:lpstr>
      <vt:lpstr>Courier New</vt:lpstr>
      <vt:lpstr>Marlett</vt:lpstr>
      <vt:lpstr>Times New Roman</vt:lpstr>
      <vt:lpstr>Wingdings</vt:lpstr>
      <vt:lpstr>Celestial</vt:lpstr>
      <vt:lpstr>Course Introduction</vt:lpstr>
      <vt:lpstr>Why Study Data Structures?</vt:lpstr>
      <vt:lpstr>What is an Algorithm?</vt:lpstr>
      <vt:lpstr>Data vs Information</vt:lpstr>
      <vt:lpstr>Data Item, Entity, Attribute</vt:lpstr>
      <vt:lpstr>Field, Record, File, Database</vt:lpstr>
      <vt:lpstr>Data Types in Python</vt:lpstr>
      <vt:lpstr>Abstract Data Types (ADT)</vt:lpstr>
      <vt:lpstr>Data Organization Hierarchy</vt:lpstr>
      <vt:lpstr>Abstraction in Computing</vt:lpstr>
      <vt:lpstr>Static vs Dynamic Structures</vt:lpstr>
      <vt:lpstr>Linear vs Non-Linear Structures</vt:lpstr>
      <vt:lpstr>Real Life Examples</vt:lpstr>
      <vt:lpstr>Structure Operations Overview</vt:lpstr>
      <vt:lpstr>Traversing Example</vt:lpstr>
      <vt:lpstr>Insertion Example</vt:lpstr>
      <vt:lpstr>Deletion Example</vt:lpstr>
      <vt:lpstr>Searching Example</vt:lpstr>
      <vt:lpstr>Sorting Example</vt:lpstr>
      <vt:lpstr>ADT as a Black Box</vt:lpstr>
      <vt:lpstr>General Definitions</vt:lpstr>
      <vt:lpstr>Examples of Data Structures</vt:lpstr>
      <vt:lpstr>Choosing the Right Structure</vt:lpstr>
      <vt:lpstr>Applications of DS &amp; Algorithms</vt:lpstr>
      <vt:lpstr>Lists (Array /Linked List)</vt:lpstr>
      <vt:lpstr>Stacks</vt:lpstr>
      <vt:lpstr>Queues</vt:lpstr>
      <vt:lpstr>Trees</vt:lpstr>
      <vt:lpstr>Hash Tables</vt:lpstr>
      <vt:lpstr>What data structure to use?</vt:lpstr>
      <vt:lpstr>Summary &amp; Next Lecture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Ehsan Khalil</dc:creator>
  <cp:keywords/>
  <dc:description>generated using python-pptx</dc:description>
  <cp:lastModifiedBy>Ehsan Khalil</cp:lastModifiedBy>
  <cp:revision>4</cp:revision>
  <dcterms:created xsi:type="dcterms:W3CDTF">2013-01-27T09:14:16Z</dcterms:created>
  <dcterms:modified xsi:type="dcterms:W3CDTF">2025-09-15T18:27:23Z</dcterms:modified>
  <cp:category/>
</cp:coreProperties>
</file>